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F1-Score (%) by Dataset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MSL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USAD</c:v>
                  </c:pt>
                  <c:pt idx="1">
                    <c:v>GDN</c:v>
                  </c:pt>
                  <c:pt idx="2">
                    <c:v>TranAD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91.5</c:v>
                </c:pt>
                <c:pt idx="1">
                  <c:v>92</c:v>
                </c:pt>
                <c:pt idx="2">
                  <c:v>94.2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SMAP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USAD</c:v>
                  </c:pt>
                  <c:pt idx="1">
                    <c:v>GDN</c:v>
                  </c:pt>
                  <c:pt idx="2">
                    <c:v>TranAD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92.4</c:v>
                </c:pt>
                <c:pt idx="1">
                  <c:v>93.5</c:v>
                </c:pt>
                <c:pt idx="2">
                  <c:v>96.9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4FC3F7">
              <a:alpha val="8000"/>
            </a:srgbClr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7E57C2">
              <a:alpha val="12000"/>
            </a:srgbClr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C3F7"/>
                </a:solidFill>
              </a:rPr>
              <a:t>Indian Institute of Technology Jodhpur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Spacecraft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Multivariate Telemetry Time Series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Presented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Vikash Malakar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Roll No: M25AI2155  |  Supervisor: Dr. Shaily Verma  |  April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Department of Computer Science and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The spacecraft health monitoring challenge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60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From thresholds to deep learning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794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5935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0507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Formal problem and research objectives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051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05156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32588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11247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5819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Datasets, models, and optimization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286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28600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560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3591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8163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Comparative performance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520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520440"/>
            <a:ext cx="5029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794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5935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507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Summary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Introduction &amp; Background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</a:rPr>
              <a:t>13,883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Active satellites in orbit (2025)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0604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241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</a:rPr>
              <a:t>85 TB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Daily telemetry from NISAR mission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60604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241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</a:rPr>
              <a:t>1,000s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Sensor parameters per spacecraft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41148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78892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Traditional OOL (Out-Of-Limit) threshold methods are increasingly inadequate: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Massive data volumes from modern missions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Complex nonlinear sensor interdependencies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Contextual anomalies missed by simple thresholds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High-dimensional, noisy telemetry channels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31720"/>
            <a:ext cx="41148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Learning Opportunity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Multivariate Time Series Anomaly Detection (MTSAD) models can: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Learn complex temporal dependencies automatically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Model spatial inter-sensor relationships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Enable autonomous fault detection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A3A"/>
                </a:solidFill>
              </a:rPr>
              <a:t>• Support real-time decision making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Literature Survey: Evolution of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Threshold-Based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508760"/>
            <a:ext cx="182880" cy="2286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1554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155448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OOL limits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LSTM-NDT (NASA JPL)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Nonparametric Dynamic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Thresholding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55448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79192" y="1508760"/>
            <a:ext cx="182880" cy="2286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737360"/>
            <a:ext cx="1554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1737360"/>
            <a:ext cx="1554480" cy="3657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87452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Adversarial Autoencoder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Dual-decoder design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Amplifies anomaly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reconstruction error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55448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98264" y="1508760"/>
            <a:ext cx="18288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737360"/>
            <a:ext cx="1554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737360"/>
            <a:ext cx="155448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87452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Transformer attention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Two-phase inference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Self-conditioning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Long-range dependencies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31536" y="1005840"/>
            <a:ext cx="155448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GDN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1508760"/>
            <a:ext cx="182880" cy="2286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737360"/>
            <a:ext cx="1554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1737360"/>
            <a:ext cx="1554480" cy="3657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87452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Graph neural network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Sensor as graph node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Relational anomaly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detection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0608" y="1005840"/>
            <a:ext cx="155448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Emerging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36408" y="1508760"/>
            <a:ext cx="182880" cy="2286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1737360"/>
            <a:ext cx="1554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1737360"/>
            <a:ext cx="155448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187452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KambaAD (KAN+MAMBA)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LLM-based reasoning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Federated learning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A2A3A"/>
                </a:solidFill>
              </a:rPr>
              <a:t>Diffusion models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37360" y="1188720"/>
            <a:ext cx="164592" cy="1645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6432" y="1188720"/>
            <a:ext cx="164592" cy="1645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5504" y="1188720"/>
            <a:ext cx="164592" cy="1645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4576" y="1188720"/>
            <a:ext cx="164592" cy="1645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Formal Problem Formulation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as multivariate time series:  X = {x₁, x₂, …, xT}   where  xt ∈ ℝⁿ  (n sensor readings at time 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Goal: Learn mapping   f : Wt → yt ∈ {0,1}   where Wt is sliding window of past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0604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Contextual Deviations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Values within limits but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behaving abnormally under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specific operational contexts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514600"/>
            <a:ext cx="260604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Relational Decoupling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Failures from disruption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multi-sensor relationships,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not single sensor faults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60604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High Dimensionality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Thousands of heterogeneous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noisy telemetry channels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impossible to monitor manually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Methodology: Datasets &amp;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NASA SMAP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</a:rPr>
              <a:t>Soil Moisture Active Passive Satellite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55 Telemetry Channels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52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3A"/>
                </a:solidFill>
              </a:rPr>
              <a:t>Parameter Categories: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Bus Voltage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502152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HPA Current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Battery SoC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05656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Temperature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407408"/>
            <a:ext cx="91440" cy="914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52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RF Power Levels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24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NASA MSL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</a:rPr>
              <a:t>Mars Science Laboratory Rover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27 Telemetry Channels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852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3A"/>
                </a:solidFill>
              </a:rPr>
              <a:t>Parameter Categories: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200400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Gyroscope Readings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502152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Reaction Wheel Speed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803904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Internal Temps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105656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Actuator States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4407408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352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A"/>
                </a:solidFill>
              </a:rPr>
              <a:t>Command Signals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8F4F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Min-Max Normalization  +  Sliding Window W_t = {x_(t-K+1), …, x_t}  where K = window size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Methodology: Model Architectures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UnSupervised Anomaly Detection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C0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Adversarial Autoencoder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2468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C0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2A3A"/>
                </a:solidFill>
              </a:rPr>
              <a:t>One encoder + two decoders in adversarial setup. Decoder 1 reconstructs normally; Decoder 2 is trained to fool Decoder 1. This amplifies reconstruction error for anomalous inputs.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4279392"/>
            <a:ext cx="2651760" cy="502920"/>
          </a:xfrm>
          <a:prstGeom prst="rect">
            <a:avLst/>
          </a:prstGeom>
          <a:solidFill>
            <a:srgbClr val="5C6BC0">
              <a:alpha val="15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15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C0"/>
                </a:solidFill>
              </a:rPr>
              <a:t>⭐ Energy-efficient, stable baseline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96012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960120"/>
            <a:ext cx="265176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4612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Transformer Anomaly Detection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4612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Transformer + Self-Conditioning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212848"/>
            <a:ext cx="2468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286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542032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2A3A"/>
                </a:solidFill>
              </a:rPr>
              <a:t>Leverages attention to process time series in parallel. Two-phase inference: Phase 1 computes reconstruction error, which adjusts attention weights in Phase 2 for anomaly scoring.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4279392"/>
            <a:ext cx="2651760" cy="50292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315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⭐ Best for subtle contextual anomalies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96012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960120"/>
            <a:ext cx="2651760" cy="594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GDN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807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Graph Deviation Network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8076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Graph Attention Network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2212848"/>
            <a:ext cx="2468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286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542032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2A3A"/>
                </a:solidFill>
              </a:rPr>
              <a:t>Each sensor is a graph node. Learns inter-sensor relationships dynamically. Anomaly = deviation of a sensor from its graph neighbors' predicted behavior.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4279392"/>
            <a:ext cx="2651760" cy="502920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315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⭐ Superior interpretability &amp; root-cause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Results: Comparative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731520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645920"/>
                <a:gridCol w="1554480"/>
                <a:gridCol w="155448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MSL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USAD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88.0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95.3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91.5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MSL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GDN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92.1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91.9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92.0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MSL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TranAD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91.2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97.4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94.2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USAD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87.5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98.1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92.4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GDN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93.2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93.8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93.5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TranAD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94.1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99.8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</a:rPr>
                        <a:t>96.9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164592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0599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TranAD achieves best F1-score (96.9% on SMAP) — ideal for subtle anomaly detection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398264"/>
            <a:ext cx="164592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GDN leads in precision — modeling inter-sensor relationships reduces false positives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727448"/>
            <a:ext cx="164592" cy="2011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7183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USAD is computationally efficient — viable for embedded/edge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Results: F1-Score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188720"/>
            <a:ext cx="109728" cy="10972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261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6E7A"/>
                </a:solidFill>
              </a:rPr>
              <a:t>Best Overall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536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A047"/>
                </a:solidFill>
              </a:rPr>
              <a:t>96.9%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751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TranAD on SMAP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468880"/>
            <a:ext cx="109728" cy="10972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542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6E7A"/>
                </a:solidFill>
              </a:rPr>
              <a:t>Best Precision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89320" y="2816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BC0"/>
                </a:solidFill>
              </a:rPr>
              <a:t>94.1%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89320" y="32552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TranAD on SMAP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74904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749040"/>
            <a:ext cx="109728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6E7A"/>
                </a:solidFill>
              </a:rPr>
              <a:t>Best Recall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89320" y="4096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99.8%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989320" y="45354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TranAD on SMAP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</a:rPr>
              <a:t>Hardware-Aware Optimization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Goal: Enable on-board spacecraft deployment in resource-constrained embedded environments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0604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RAM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3A"/>
                </a:solidFill>
              </a:rPr>
              <a:t>2.0 MB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633472"/>
            <a:ext cx="1325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Optimized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</a:rPr>
              <a:t>59 KB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2606040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758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Reduction: 97.1%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71600"/>
            <a:ext cx="2606040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264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Compute (MACs)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Baseline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3A"/>
                </a:solidFill>
              </a:rPr>
              <a:t>100%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840480" y="2633472"/>
            <a:ext cx="1325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C0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9443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Optimized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C0"/>
                </a:solidFill>
              </a:rPr>
              <a:t>0.6%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606040" cy="2743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6758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C0"/>
                </a:solidFill>
              </a:rPr>
              <a:t>Reduction: 99.4%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371600"/>
            <a:ext cx="260604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4264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 Drop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Baseline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3A"/>
                </a:solidFill>
              </a:rPr>
              <a:t>92.7%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2633472"/>
            <a:ext cx="1325880" cy="1828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A047"/>
                </a:solidFill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29443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Optimized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A047"/>
                </a:solidFill>
              </a:rPr>
              <a:t>88.8%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035040" y="3657600"/>
            <a:ext cx="2606040" cy="274320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6758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Reduction: −3.9%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Key Insight: Significant reductions in memory (97.1%) and compute (99.4%) are achievable with only a modest 3.9% accuracy trade-off — making AI-based anomaly detection feasible for deployment on spacecraft embedded systems.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Interpretability &amp; Root-Cause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977640"/>
          </a:xfrm>
          <a:prstGeom prst="rect">
            <a:avLst/>
          </a:prstGeom>
          <a:solidFill>
            <a:srgbClr val="0D1F35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Why GDN Excels at Interpretability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GDN treats each sensor as a node in a learnable graph. Edges represent learned relationships between sensors.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 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When an anomaly occurs, GDN identifies WHICH sensor relationship was disrupted — not just that something is wrong.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 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This is critical in mission-critical systems where knowing the source of failure is as important as detecting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3840480" cy="320040"/>
          </a:xfrm>
          <a:prstGeom prst="rect">
            <a:avLst/>
          </a:prstGeom>
          <a:solidFill>
            <a:srgbClr val="0D1F35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</a:rPr>
              <a:t>Sensor Graph: Anomaly = edge disruption detected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300"/>
                </a:solidFill>
              </a:rPr>
              <a:t>USAD &amp; TranAD: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detect anomalies but cannot explain which sensor caused it.</a:t>
            </a:r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3A047"/>
                </a:solidFill>
              </a:rPr>
              <a:t>GDN: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pinpoints the exact sensor relationship that was disrupted, enabling targeted fault isolation.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3977640"/>
          </a:xfrm>
          <a:prstGeom prst="rect">
            <a:avLst/>
          </a:prstGeom>
          <a:solidFill>
            <a:srgbClr val="0D1F35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Graph Representation of Sensor Relationships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68112" y="2176272"/>
            <a:ext cx="1171896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8112" y="2176272"/>
            <a:ext cx="2287828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1764792"/>
            <a:ext cx="1290730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1764792"/>
            <a:ext cx="1676746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2267712"/>
            <a:ext cx="1104874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2176272"/>
            <a:ext cx="1192232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273552"/>
            <a:ext cx="1739765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54112" y="2267712"/>
            <a:ext cx="2453593" cy="0"/>
          </a:xfrm>
          <a:prstGeom prst="line">
            <a:avLst/>
          </a:prstGeom>
          <a:noFill/>
          <a:ln w="635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011680"/>
            <a:ext cx="548640" cy="548640"/>
          </a:xfrm>
          <a:prstGeom prst="ellipse">
            <a:avLst/>
          </a:prstGeom>
          <a:solidFill>
            <a:srgbClr val="43A0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Gyro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00897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React.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Wheel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2103120"/>
            <a:ext cx="548640" cy="548640"/>
          </a:xfrm>
          <a:prstGeom prst="ellipse">
            <a:avLst/>
          </a:prstGeom>
          <a:solidFill>
            <a:srgbClr val="FFB3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2697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Battery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3108960"/>
            <a:ext cx="548640" cy="548640"/>
          </a:xfrm>
          <a:prstGeom prst="ellipse">
            <a:avLst/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Power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94960" y="3200400"/>
            <a:ext cx="548640" cy="548640"/>
          </a:xfrm>
          <a:prstGeom prst="ellipse">
            <a:avLst/>
          </a:prstGeom>
          <a:solidFill>
            <a:srgbClr val="7E57C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3794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Temp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Sensor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09160" y="41605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Nodes = Sensors   |   Edges = Learned Relationships   |   Red edge = Anomaly detected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474720"/>
          </a:xfrm>
          <a:prstGeom prst="rect">
            <a:avLst/>
          </a:prstGeom>
          <a:solidFill>
            <a:srgbClr val="0D1F3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TranAD: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Best detection performance (F1: 96.9%) — captures subtle contextual anomalies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GDN: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139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Best interpretability — graph-based root-cause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USAD: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7980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Most computationally efficient — energy-aware design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Optimization: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3456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97.1% RAM, 99.4% compute reduction with only 3.9% accuracy loss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114800" cy="3474720"/>
          </a:xfrm>
          <a:prstGeom prst="rect">
            <a:avLst/>
          </a:prstGeom>
          <a:solidFill>
            <a:srgbClr val="0D1F35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</a:rPr>
              <a:t>Future Directions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73168" y="1536192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MAMBA / KAN: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737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State-space models for efficient long-sequence modeling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19456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1396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LLM Integration: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957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Semantic, human-readable anomaly explanations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2852928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7980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Federated Learning: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054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Collaborative multi-spacecraft training without raw data sharing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3511296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456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Diffusion Models: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7124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Improved normal-behavior modeling for higher detection accuracy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This work advances autonomous, interpretable, and hardware-efficient AI health monitoring for future space missions.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4114800" cy="4114800"/>
          </a:xfrm>
          <a:prstGeom prst="ellipse">
            <a:avLst/>
          </a:prstGeom>
          <a:solidFill>
            <a:srgbClr val="4FC3F7">
              <a:alpha val="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560320"/>
            <a:ext cx="3200400" cy="3200400"/>
          </a:xfrm>
          <a:prstGeom prst="ellipse">
            <a:avLst/>
          </a:prstGeom>
          <a:solidFill>
            <a:srgbClr val="7E57C2">
              <a:alpha val="10000"/>
            </a:srgbClr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Vikash Malakar  |  M25AI2155
</a:t>
            </a:r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Supervisor: Dr. Shaily Verma
</a:t>
            </a:r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Dept. of CSE, IIT Jodhpur  |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Spacecraft Anomaly Detection</dc:title>
  <dc:subject>PptxGenJS Presentation</dc:subject>
  <dc:creator>Vikash Malakar</dc:creator>
  <cp:lastModifiedBy>Vikash Malakar</cp:lastModifiedBy>
  <cp:revision>1</cp:revision>
  <dcterms:created xsi:type="dcterms:W3CDTF">2026-04-17T06:37:04Z</dcterms:created>
  <dcterms:modified xsi:type="dcterms:W3CDTF">2026-04-17T06:37:04Z</dcterms:modified>
</cp:coreProperties>
</file>